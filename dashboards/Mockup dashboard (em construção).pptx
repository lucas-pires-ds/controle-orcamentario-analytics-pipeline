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58" r:id="rId3"/>
    <p:sldId id="259" r:id="rId4"/>
    <p:sldId id="260" r:id="rId5"/>
    <p:sldId id="262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3A5F"/>
    <a:srgbClr val="F4FBFE"/>
    <a:srgbClr val="E9F8FD"/>
    <a:srgbClr val="F5F7FA"/>
    <a:srgbClr val="E6E6E6"/>
    <a:srgbClr val="F5F6FA"/>
    <a:srgbClr val="F1F4F9"/>
    <a:srgbClr val="010A52"/>
    <a:srgbClr val="D7EEF9"/>
    <a:srgbClr val="0A0A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CC14B-645B-F460-0C6D-735CBC24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C73DF3-07BB-B304-B477-D03D9048B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4C3223-5CE7-0744-F9D8-C5CDFB4E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0CC05D-2CE0-8CE9-D86B-3BEB2A33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A0F58E-3109-E936-9011-B21060A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36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D88C2C-0713-EFC6-7D4B-2E6C4A5C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F0BE5C-7F3A-3EEC-7502-504B73CE0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BA69BA-77A3-4A48-D1D8-69239327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944D7F-B6CB-0F9A-906D-BB445B3D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C94083-E975-776A-4BF1-6289A833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8420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4E6B7-BD8A-8EF4-4326-4FD54DCC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FD0B34-5947-02DC-35D6-720E8CA73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907AB-F972-060E-48D2-249E1858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7CD38B-6658-8BC8-8E5E-DF1EE15E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074967-DACB-FE8E-6E2A-4377BEE4A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7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F0F9-A842-8B83-09C2-B503DBD3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EE947-F3F6-B7D7-E0C3-07D4E2A5F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FEB8E2-C007-E113-A53D-4B2CE00A8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321183-3C02-FFB4-20B8-2117C0A90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58BC2D2-AC84-B04B-DE24-E9397FE0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286216-A5E1-9AAF-6C3C-BB636385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160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CCAC6-E3D7-98BD-FF0A-BD56CA8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C89BEF-054B-ED14-12FB-66AC1DC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40EE10-0D53-8E90-CB56-631CDA9ED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A27982B-20B9-7EB1-3219-0498802A4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18B14E-F3EC-0A09-13BD-B325B5CDB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EB8D276-F019-7E81-EE00-3EDD8828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42A60C-3F15-7B85-A073-8C7C1AEB4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99D0363-CEA5-0BAA-B70C-A57927088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1483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E17C7-0F34-2354-FF11-BF286FCE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DA462AC-119B-4116-EB6C-423BBBDA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10AE1C2-620A-A25E-3718-FB7813BE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CF86E-8265-F8AD-5B44-8122054F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5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8CDFC4-D779-AE80-2181-B79C365D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E9A0BA3-0BCB-9007-9BBF-278D4C47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726E7D-4163-C2AB-5733-A34758B1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6846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0AA9-DA9F-49C6-A916-F8DE3193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C03538-9253-7ABE-079E-1D11479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AA1916-64D5-E3DD-7C22-DA43B9376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922487-8EBF-481E-83ED-F1FCC7D5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31A4151-13EB-742A-944B-34A3D0B9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4A95FE-FFA3-CCAF-804F-FA1A2CFF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955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CEF58-A298-1D8A-E899-70CD047B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3F6DA4-B5DE-02C9-3A4D-751B02D81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708C3F9-15F0-C9F2-C017-A8DA12B2B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CA8783-2920-140A-AB4A-E3E9A909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A1BD99-FEBB-8DA3-65BB-5EBBB5AC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C5D0D5-7905-3FE8-F677-E284652D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01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BC9D8-887C-4BBD-7EBA-5C5A93973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550240-9B05-DB19-096A-516F84846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3C9244-555D-0448-82C4-EBDD779D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0BA9F6-04AC-064D-1DB4-D77BB7B9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2BB353-EF7E-2232-8606-D151FABD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0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1A91D93-5F16-9C7A-BC2D-57A46928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E744C9E-9EC0-ABC1-8BC1-B0A72CDCD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AF5475-D2EF-E723-E73B-2686F176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AC35FB-D53D-C584-D7D2-9D17792C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541B20-88FC-EB37-F972-2594E11AB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5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D2A9B4A-86FE-C208-F8D7-47A647B5B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A6293C-E3E0-604C-D7EF-9D0873048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14B1BC-F16C-78DC-ABDB-327403848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56B22-234B-48A0-9B90-72A4AF419D03}" type="datetimeFigureOut">
              <a:rPr lang="pt-BR" smtClean="0"/>
              <a:t>28/03/2026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955ADA-EE67-1C10-4506-69156A622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CED509-8FFF-8389-614F-9AAADE8B3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54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0" Type="http://schemas.openxmlformats.org/officeDocument/2006/relationships/image" Target="../media/image13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9.png"/><Relationship Id="rId5" Type="http://schemas.openxmlformats.org/officeDocument/2006/relationships/image" Target="../media/image17.png"/><Relationship Id="rId10" Type="http://schemas.openxmlformats.org/officeDocument/2006/relationships/image" Target="../media/image18.png"/><Relationship Id="rId4" Type="http://schemas.openxmlformats.org/officeDocument/2006/relationships/image" Target="../media/image16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20.png"/><Relationship Id="rId5" Type="http://schemas.openxmlformats.org/officeDocument/2006/relationships/image" Target="../media/image9.png"/><Relationship Id="rId10" Type="http://schemas.openxmlformats.org/officeDocument/2006/relationships/image" Target="../media/image3.png"/><Relationship Id="rId4" Type="http://schemas.openxmlformats.org/officeDocument/2006/relationships/image" Target="../media/image8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7FA"/>
            </a:gs>
            <a:gs pos="23000">
              <a:srgbClr val="F5F7FA"/>
            </a:gs>
            <a:gs pos="57000">
              <a:schemeClr val="bg1">
                <a:lumMod val="95000"/>
              </a:schemeClr>
            </a:gs>
            <a:gs pos="100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A77190B-F94D-E8B5-D9E4-63A28F2E5F17}"/>
              </a:ext>
            </a:extLst>
          </p:cNvPr>
          <p:cNvSpPr/>
          <p:nvPr/>
        </p:nvSpPr>
        <p:spPr>
          <a:xfrm>
            <a:off x="1406013" y="2900515"/>
            <a:ext cx="4345858" cy="163215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215900" sx="104000" sy="104000" algn="ctr" rotWithShape="0">
              <a:prstClr val="black">
                <a:alpha val="5000"/>
              </a:prstClr>
            </a:outerShdw>
            <a:reflection stA="45000" endPos="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5D0FD68-31F1-AA60-EB25-B0430C9E2BFE}"/>
              </a:ext>
            </a:extLst>
          </p:cNvPr>
          <p:cNvSpPr/>
          <p:nvPr/>
        </p:nvSpPr>
        <p:spPr>
          <a:xfrm>
            <a:off x="1406013" y="4891547"/>
            <a:ext cx="4345858" cy="163215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215900" sx="104000" sy="104000" algn="ctr" rotWithShape="0">
              <a:prstClr val="black">
                <a:alpha val="5000"/>
              </a:prstClr>
            </a:outerShdw>
            <a:reflection stA="45000" endPos="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AB69F5BA-90CD-973A-91EF-08E6EA23C09A}"/>
              </a:ext>
            </a:extLst>
          </p:cNvPr>
          <p:cNvSpPr/>
          <p:nvPr/>
        </p:nvSpPr>
        <p:spPr>
          <a:xfrm>
            <a:off x="6440130" y="2900515"/>
            <a:ext cx="4345858" cy="163215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215900" sx="104000" sy="104000" algn="ctr" rotWithShape="0">
              <a:prstClr val="black">
                <a:alpha val="5000"/>
              </a:prstClr>
            </a:outerShdw>
            <a:reflection stA="45000" endPos="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656748CF-E6DF-36F7-C2D4-5986B54B51D3}"/>
              </a:ext>
            </a:extLst>
          </p:cNvPr>
          <p:cNvSpPr/>
          <p:nvPr/>
        </p:nvSpPr>
        <p:spPr>
          <a:xfrm>
            <a:off x="6440130" y="4891547"/>
            <a:ext cx="4345857" cy="1632155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215900" sx="104000" sy="104000" algn="ctr" rotWithShape="0">
              <a:prstClr val="black">
                <a:alpha val="5000"/>
              </a:prstClr>
            </a:outerShdw>
            <a:reflection stA="45000" endPos="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F2B2F22-5407-9A2C-78D8-06D94D9189DA}"/>
              </a:ext>
            </a:extLst>
          </p:cNvPr>
          <p:cNvSpPr txBox="1"/>
          <p:nvPr/>
        </p:nvSpPr>
        <p:spPr>
          <a:xfrm>
            <a:off x="1533832" y="3057832"/>
            <a:ext cx="4119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002060"/>
                </a:solidFill>
                <a:latin typeface="Aptos SemiBold" panose="020F0502020204030204" pitchFamily="34" charset="0"/>
                <a:cs typeface="Aharoni" panose="020F0502020204030204" pitchFamily="2" charset="-79"/>
              </a:rPr>
              <a:t>Operacional - Monitoramento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EF274FA-A70A-E361-F86B-BAE9FFA224A2}"/>
              </a:ext>
            </a:extLst>
          </p:cNvPr>
          <p:cNvSpPr txBox="1"/>
          <p:nvPr/>
        </p:nvSpPr>
        <p:spPr>
          <a:xfrm>
            <a:off x="1533832" y="5048864"/>
            <a:ext cx="4119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002060"/>
                </a:solidFill>
                <a:latin typeface="Aptos SemiBold" panose="020F0502020204030204" pitchFamily="34" charset="0"/>
                <a:cs typeface="Aharoni" panose="020F0502020204030204" pitchFamily="2" charset="-79"/>
              </a:rPr>
              <a:t>Analytics – Performance orçamentária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8DF0ED0-657C-C279-92EB-5315FB534ACA}"/>
              </a:ext>
            </a:extLst>
          </p:cNvPr>
          <p:cNvSpPr txBox="1"/>
          <p:nvPr/>
        </p:nvSpPr>
        <p:spPr>
          <a:xfrm>
            <a:off x="6577782" y="3057832"/>
            <a:ext cx="4119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002060"/>
                </a:solidFill>
                <a:latin typeface="Aptos SemiBold" panose="020F0502020204030204" pitchFamily="34" charset="0"/>
                <a:cs typeface="Aharoni" panose="020F0502020204030204" pitchFamily="2" charset="-79"/>
              </a:rPr>
              <a:t>Operacional - Detalhamento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316F2D2-4260-0039-58A5-49A38ADE7762}"/>
              </a:ext>
            </a:extLst>
          </p:cNvPr>
          <p:cNvSpPr txBox="1"/>
          <p:nvPr/>
        </p:nvSpPr>
        <p:spPr>
          <a:xfrm>
            <a:off x="6577782" y="5048864"/>
            <a:ext cx="4119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002060"/>
                </a:solidFill>
                <a:latin typeface="Aptos SemiBold" panose="020F0502020204030204" pitchFamily="34" charset="0"/>
                <a:cs typeface="Aharoni" panose="020F0502020204030204" pitchFamily="2" charset="-79"/>
              </a:rPr>
              <a:t>Analytics – Evolução e tendências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014EA3C-D8B3-C243-8F54-03A0F619A490}"/>
              </a:ext>
            </a:extLst>
          </p:cNvPr>
          <p:cNvSpPr/>
          <p:nvPr/>
        </p:nvSpPr>
        <p:spPr>
          <a:xfrm>
            <a:off x="1533832" y="3427164"/>
            <a:ext cx="825910" cy="84003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4" name="Imagem 13" descr="Ícone&#10;&#10;O conteúdo gerado por IA pode estar incorreto.">
            <a:extLst>
              <a:ext uri="{FF2B5EF4-FFF2-40B4-BE49-F238E27FC236}">
                <a16:creationId xmlns:a16="http://schemas.microsoft.com/office/drawing/2014/main" id="{48B8CCAC-41E4-574C-85C9-70BF530202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976" y="3517526"/>
            <a:ext cx="618780" cy="618780"/>
          </a:xfrm>
          <a:prstGeom prst="rect">
            <a:avLst/>
          </a:prstGeom>
        </p:spPr>
      </p:pic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C9B12BF-1C9F-0924-8E02-87D2E29318A6}"/>
              </a:ext>
            </a:extLst>
          </p:cNvPr>
          <p:cNvSpPr/>
          <p:nvPr/>
        </p:nvSpPr>
        <p:spPr>
          <a:xfrm>
            <a:off x="1573161" y="5422827"/>
            <a:ext cx="786581" cy="84003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7A4ECCD4-1CF4-DE6A-C094-BE4F5B551DFE}"/>
              </a:ext>
            </a:extLst>
          </p:cNvPr>
          <p:cNvSpPr/>
          <p:nvPr/>
        </p:nvSpPr>
        <p:spPr>
          <a:xfrm>
            <a:off x="6574982" y="3391214"/>
            <a:ext cx="825910" cy="84003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33573B1C-B4A5-F450-C89D-954F0E3B2E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8547" y="3517526"/>
            <a:ext cx="618780" cy="618780"/>
          </a:xfrm>
          <a:prstGeom prst="rect">
            <a:avLst/>
          </a:prstGeom>
        </p:spPr>
      </p:pic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CE108E38-362D-28B1-EE34-D04C0DF5AC09}"/>
              </a:ext>
            </a:extLst>
          </p:cNvPr>
          <p:cNvSpPr/>
          <p:nvPr/>
        </p:nvSpPr>
        <p:spPr>
          <a:xfrm>
            <a:off x="6574982" y="5422827"/>
            <a:ext cx="825910" cy="84003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D5C52D20-C110-3E6B-7978-ADC79D15E4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640" y="5531266"/>
            <a:ext cx="654526" cy="654526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2B482ABD-0785-9FD7-4737-3CD508A496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0674" y="5531266"/>
            <a:ext cx="654526" cy="654526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587BA0FE-D58E-C674-9279-704389F31AA2}"/>
              </a:ext>
            </a:extLst>
          </p:cNvPr>
          <p:cNvSpPr txBox="1"/>
          <p:nvPr/>
        </p:nvSpPr>
        <p:spPr>
          <a:xfrm>
            <a:off x="2669458" y="3524016"/>
            <a:ext cx="181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Visão do mês em curso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1F441E7-B94C-CF51-DB45-42DE51AC3989}"/>
              </a:ext>
            </a:extLst>
          </p:cNvPr>
          <p:cNvSpPr txBox="1"/>
          <p:nvPr/>
        </p:nvSpPr>
        <p:spPr>
          <a:xfrm>
            <a:off x="2684206" y="5519678"/>
            <a:ext cx="181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Orçado vs realizado YTD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AB4DA6C2-5AAE-3D90-1B45-1D85CC1D4BA7}"/>
              </a:ext>
            </a:extLst>
          </p:cNvPr>
          <p:cNvSpPr txBox="1"/>
          <p:nvPr/>
        </p:nvSpPr>
        <p:spPr>
          <a:xfrm>
            <a:off x="7591425" y="5519679"/>
            <a:ext cx="181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Crescimento MoM e YoY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585FCD3F-DEC5-BF38-6457-1FFE9317E07B}"/>
              </a:ext>
            </a:extLst>
          </p:cNvPr>
          <p:cNvSpPr txBox="1"/>
          <p:nvPr/>
        </p:nvSpPr>
        <p:spPr>
          <a:xfrm>
            <a:off x="7591425" y="3524016"/>
            <a:ext cx="181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Lançamentos detalhados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6477A151-9237-E1BF-961A-FAADED150654}"/>
              </a:ext>
            </a:extLst>
          </p:cNvPr>
          <p:cNvSpPr/>
          <p:nvPr/>
        </p:nvSpPr>
        <p:spPr>
          <a:xfrm>
            <a:off x="4374604" y="1855231"/>
            <a:ext cx="3442791" cy="510668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dirty="0"/>
              <a:t>Gestão financeira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AC5C046-8FB0-7A42-0775-8707E75004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0575" y="400666"/>
            <a:ext cx="299085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321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010A52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1291" y="2096342"/>
            <a:ext cx="348481" cy="351582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62406" y="872533"/>
            <a:ext cx="2377469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38574" y="878241"/>
            <a:ext cx="2377469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11235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383896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49149" y="2026039"/>
            <a:ext cx="10737908" cy="2575778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470750E-57B1-0CD6-6695-17F90F81A92A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262A853-6CC5-638C-32C0-6E1BBA50331C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010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Monitoramento</a:t>
            </a:r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FAE8F446-4773-E231-C5A7-6C89961762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031" y="947512"/>
            <a:ext cx="309734" cy="309734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3025008" y="897622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769033" y="909113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615655" y="917288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75942" y="917289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5386033A-5D2B-BB81-DB17-FE4AF621B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479" y="947711"/>
            <a:ext cx="309535" cy="309535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E0B9E829-DC81-1BF0-7000-2ACC9FCAC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4435" y="975405"/>
            <a:ext cx="280046" cy="280046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1ACA8E9-C0F4-E4F7-6378-47AAA5A764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647572"/>
            <a:ext cx="351582" cy="351582"/>
          </a:xfrm>
          <a:prstGeom prst="rect">
            <a:avLst/>
          </a:prstGeom>
        </p:spPr>
      </p:pic>
      <p:pic>
        <p:nvPicPr>
          <p:cNvPr id="20" name="Imagem 19" descr="Ícone&#10;&#10;O conteúdo gerado por IA pode estar incorreto.">
            <a:extLst>
              <a:ext uri="{FF2B5EF4-FFF2-40B4-BE49-F238E27FC236}">
                <a16:creationId xmlns:a16="http://schemas.microsoft.com/office/drawing/2014/main" id="{95F4F035-D941-A804-F42E-3472DA42A5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8" y="2135685"/>
            <a:ext cx="296136" cy="29613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60520814-EC16-C5F5-700B-70441E084DD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986" y="965077"/>
            <a:ext cx="273612" cy="30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3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02349" cy="4337108"/>
          </a:xfrm>
          <a:prstGeom prst="roundRect">
            <a:avLst/>
          </a:prstGeom>
          <a:solidFill>
            <a:srgbClr val="010A52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84996" y="2759869"/>
            <a:ext cx="376967" cy="406843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23457" y="898501"/>
            <a:ext cx="2377469" cy="1078503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42379" y="894666"/>
            <a:ext cx="2377469" cy="107850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61301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480223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811793" y="2166731"/>
            <a:ext cx="8421442" cy="450154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5DDFF6DC-D44A-A46D-56F0-9D3568F86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6DD0D9C7-92A9-3243-FC0E-365F9ACC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28" y="2819806"/>
            <a:ext cx="278993" cy="278993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48C9E3-6494-5DBF-B726-271748E11AEE}"/>
              </a:ext>
            </a:extLst>
          </p:cNvPr>
          <p:cNvSpPr/>
          <p:nvPr/>
        </p:nvSpPr>
        <p:spPr>
          <a:xfrm>
            <a:off x="9480224" y="2174508"/>
            <a:ext cx="257767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1320CE6E-A79C-944E-0F18-343E50B290DF}"/>
              </a:ext>
            </a:extLst>
          </p:cNvPr>
          <p:cNvSpPr/>
          <p:nvPr/>
        </p:nvSpPr>
        <p:spPr>
          <a:xfrm>
            <a:off x="9480224" y="4538900"/>
            <a:ext cx="256762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EC12CAE6-C32E-A834-C9AC-32A219FA52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08" y="996463"/>
            <a:ext cx="255261" cy="255261"/>
          </a:xfrm>
          <a:prstGeom prst="rect">
            <a:avLst/>
          </a:prstGeom>
        </p:spPr>
      </p:pic>
      <p:pic>
        <p:nvPicPr>
          <p:cNvPr id="31" name="Imagem 30" descr="Ícone&#10;&#10;O conteúdo gerado por IA pode estar incorreto.">
            <a:extLst>
              <a:ext uri="{FF2B5EF4-FFF2-40B4-BE49-F238E27FC236}">
                <a16:creationId xmlns:a16="http://schemas.microsoft.com/office/drawing/2014/main" id="{D8DFE3BC-925E-2547-8113-3CEB442440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643" y="989268"/>
            <a:ext cx="269652" cy="269652"/>
          </a:xfrm>
          <a:prstGeom prst="rect">
            <a:avLst/>
          </a:prstGeom>
        </p:spPr>
      </p:pic>
      <p:sp>
        <p:nvSpPr>
          <p:cNvPr id="2" name="Retângulo: Cantos Arredondados 42">
            <a:extLst>
              <a:ext uri="{FF2B5EF4-FFF2-40B4-BE49-F238E27FC236}">
                <a16:creationId xmlns:a16="http://schemas.microsoft.com/office/drawing/2014/main" id="{63991A6C-31A1-40A6-38E0-38B21DBA2385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 descr="Logotipo&#10;&#10;O conteúdo gerado por IA pode estar incorreto.">
            <a:extLst>
              <a:ext uri="{FF2B5EF4-FFF2-40B4-BE49-F238E27FC236}">
                <a16:creationId xmlns:a16="http://schemas.microsoft.com/office/drawing/2014/main" id="{F7C61615-0B47-2FC3-31FA-B5E03D16DB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88548A-4110-00B2-C001-C805A80B227E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010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Detalhamento</a:t>
            </a:r>
          </a:p>
        </p:txBody>
      </p:sp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BB80548D-950E-8D51-68FE-BE6B82C2B1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0" y="3639952"/>
            <a:ext cx="351582" cy="35158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7A023A8A-AE9A-9ADB-9B3E-1DB876F587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14" name="Imagem 13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40D1A4E2-482B-B875-1CD3-25239AC08C0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C698D58-1F9B-2973-DA50-83C730A06717}"/>
              </a:ext>
            </a:extLst>
          </p:cNvPr>
          <p:cNvSpPr/>
          <p:nvPr/>
        </p:nvSpPr>
        <p:spPr>
          <a:xfrm>
            <a:off x="2989250" y="922380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A94D199B-B254-6A6D-AFA8-4406AA7564C1}"/>
              </a:ext>
            </a:extLst>
          </p:cNvPr>
          <p:cNvSpPr/>
          <p:nvPr/>
        </p:nvSpPr>
        <p:spPr>
          <a:xfrm>
            <a:off x="5759526" y="919796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E19E131-03D2-D92F-69A8-033EF3C082B8}"/>
              </a:ext>
            </a:extLst>
          </p:cNvPr>
          <p:cNvSpPr/>
          <p:nvPr/>
        </p:nvSpPr>
        <p:spPr>
          <a:xfrm>
            <a:off x="8651222" y="934552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C71CE498-97D1-4D8B-F632-AA7BBBAEC550}"/>
              </a:ext>
            </a:extLst>
          </p:cNvPr>
          <p:cNvSpPr/>
          <p:nvPr/>
        </p:nvSpPr>
        <p:spPr>
          <a:xfrm>
            <a:off x="11478246" y="910788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7D29B853-6F2E-F696-251D-5D6F4336C5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1222" y="953913"/>
            <a:ext cx="337605" cy="337605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F7D75856-54AC-12C7-D9BF-F9D2F980342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0697" y="977017"/>
            <a:ext cx="274707" cy="274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37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A059C2-C4A4-B63E-F1E1-85D995A85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45E11D63-BBE6-BDCF-114B-A605ABA514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9DA83FE9-4556-0BC2-4684-C023939A94F6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010A52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34CEEA33-8D78-0A90-2C50-B77250D0C733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7B0AAC71-D4F2-B509-F02D-DA1CDC005A9C}"/>
              </a:ext>
            </a:extLst>
          </p:cNvPr>
          <p:cNvSpPr/>
          <p:nvPr/>
        </p:nvSpPr>
        <p:spPr>
          <a:xfrm>
            <a:off x="1049149" y="949534"/>
            <a:ext cx="2387600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1C8273C-8026-BE1D-4E2D-EFAE5A122036}"/>
              </a:ext>
            </a:extLst>
          </p:cNvPr>
          <p:cNvSpPr/>
          <p:nvPr/>
        </p:nvSpPr>
        <p:spPr>
          <a:xfrm>
            <a:off x="3813903" y="949534"/>
            <a:ext cx="2387600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B556580-20D0-5196-3206-249BDACADC40}"/>
              </a:ext>
            </a:extLst>
          </p:cNvPr>
          <p:cNvSpPr/>
          <p:nvPr/>
        </p:nvSpPr>
        <p:spPr>
          <a:xfrm>
            <a:off x="9380638" y="950110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7433BFA1-C2CE-2D8D-6401-6AD7D6B8D1EA}"/>
              </a:ext>
            </a:extLst>
          </p:cNvPr>
          <p:cNvSpPr/>
          <p:nvPr/>
        </p:nvSpPr>
        <p:spPr>
          <a:xfrm>
            <a:off x="1049149" y="2144577"/>
            <a:ext cx="10737908" cy="2418961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D45ED86-85EB-46B1-CBAD-4C2114EB13BB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5CD6965F-0E66-8080-2B63-26B4C3F43A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95EDC010-24E1-5CEF-002C-3286AF360F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412D39A9-6C07-5E90-08AF-839E1F1508C5}"/>
              </a:ext>
            </a:extLst>
          </p:cNvPr>
          <p:cNvSpPr/>
          <p:nvPr/>
        </p:nvSpPr>
        <p:spPr>
          <a:xfrm>
            <a:off x="1699975" y="227802"/>
            <a:ext cx="3205399" cy="309954"/>
          </a:xfrm>
          <a:prstGeom prst="roundRect">
            <a:avLst>
              <a:gd name="adj" fmla="val 26287"/>
            </a:avLst>
          </a:prstGeom>
          <a:solidFill>
            <a:srgbClr val="010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Analytics – Performance Orçamentária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F595D844-0F89-2048-AACE-2738058B0DE5}"/>
              </a:ext>
            </a:extLst>
          </p:cNvPr>
          <p:cNvSpPr/>
          <p:nvPr/>
        </p:nvSpPr>
        <p:spPr>
          <a:xfrm>
            <a:off x="3008184" y="970568"/>
            <a:ext cx="347291" cy="3740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96776456-D4CC-50D0-18CC-6B38E52727BB}"/>
              </a:ext>
            </a:extLst>
          </p:cNvPr>
          <p:cNvSpPr/>
          <p:nvPr/>
        </p:nvSpPr>
        <p:spPr>
          <a:xfrm>
            <a:off x="5792658" y="973108"/>
            <a:ext cx="372871" cy="362545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8A118298-34FC-7DE1-8F0F-A0EC0AE956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137" y="999786"/>
            <a:ext cx="291413" cy="291413"/>
          </a:xfrm>
          <a:prstGeom prst="rect">
            <a:avLst/>
          </a:prstGeom>
        </p:spPr>
      </p:pic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2135EB59-0050-6A61-35E4-BBE49ADC4DC5}"/>
              </a:ext>
            </a:extLst>
          </p:cNvPr>
          <p:cNvSpPr/>
          <p:nvPr/>
        </p:nvSpPr>
        <p:spPr>
          <a:xfrm>
            <a:off x="11418889" y="981926"/>
            <a:ext cx="306401" cy="3464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7618B013-02CB-3CE9-780E-7385F1A310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8301" y="1011706"/>
            <a:ext cx="291214" cy="291214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70216CAD-FDC2-6DF6-2224-EB73CFCF08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3662" y="1040043"/>
            <a:ext cx="242848" cy="242848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47DD43CA-2B21-F402-1F31-3460A357D0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DDB3037B-999A-7F96-069D-91515E17BA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9A1E47DD-DE7C-5DD9-E540-A5097FC1D7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2" name="Imagem 1" descr="Ícone&#10;&#10;O conteúdo gerado por IA pode estar incorreto.">
            <a:extLst>
              <a:ext uri="{FF2B5EF4-FFF2-40B4-BE49-F238E27FC236}">
                <a16:creationId xmlns:a16="http://schemas.microsoft.com/office/drawing/2014/main" id="{7CD71D87-893B-7AA0-516F-712AAD25060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4B03BC2-6A25-2E9E-9746-FF7F301C93EE}"/>
              </a:ext>
            </a:extLst>
          </p:cNvPr>
          <p:cNvSpPr/>
          <p:nvPr/>
        </p:nvSpPr>
        <p:spPr>
          <a:xfrm>
            <a:off x="44482" y="3547272"/>
            <a:ext cx="446056" cy="453228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58F5543-2B64-AEFA-1305-E0962F0D005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6" y="3579070"/>
            <a:ext cx="381791" cy="381791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899D14D-4A07-9D45-94A5-D43BA7024CC3}"/>
              </a:ext>
            </a:extLst>
          </p:cNvPr>
          <p:cNvSpPr/>
          <p:nvPr/>
        </p:nvSpPr>
        <p:spPr>
          <a:xfrm>
            <a:off x="6569276" y="956414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C17D2FD4-91EB-ED5B-58B4-E51EE5ED46B4}"/>
              </a:ext>
            </a:extLst>
          </p:cNvPr>
          <p:cNvSpPr/>
          <p:nvPr/>
        </p:nvSpPr>
        <p:spPr>
          <a:xfrm>
            <a:off x="8631065" y="980374"/>
            <a:ext cx="286414" cy="326345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6BE433D8-C892-8287-703C-B58B427EAA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0917" y="1030153"/>
            <a:ext cx="206041" cy="206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27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ECBDB-F3F2-5610-5392-29AE714A7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B2F546BD-164B-0210-2D43-A689121D62B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E52B59DA-7444-A952-44E2-0A5A647FC95B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010A52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34BB365B-6C57-DFDB-CEAE-61898CBB045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059EC8DE-693F-2D30-CDBC-C63E2A1AE36C}"/>
              </a:ext>
            </a:extLst>
          </p:cNvPr>
          <p:cNvSpPr/>
          <p:nvPr/>
        </p:nvSpPr>
        <p:spPr>
          <a:xfrm>
            <a:off x="1049149" y="949534"/>
            <a:ext cx="2387600" cy="85313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935B4D87-7F10-AB36-968D-D4D6730226AA}"/>
              </a:ext>
            </a:extLst>
          </p:cNvPr>
          <p:cNvSpPr/>
          <p:nvPr/>
        </p:nvSpPr>
        <p:spPr>
          <a:xfrm>
            <a:off x="3813903" y="949534"/>
            <a:ext cx="2387600" cy="85313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16B04D69-7B73-6177-C7B1-F20FA93BF3AF}"/>
              </a:ext>
            </a:extLst>
          </p:cNvPr>
          <p:cNvSpPr/>
          <p:nvPr/>
        </p:nvSpPr>
        <p:spPr>
          <a:xfrm>
            <a:off x="9380638" y="950110"/>
            <a:ext cx="2387600" cy="847474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E600486A-A0F4-6258-BBAA-18F2F9FE4F3A}"/>
              </a:ext>
            </a:extLst>
          </p:cNvPr>
          <p:cNvSpPr/>
          <p:nvPr/>
        </p:nvSpPr>
        <p:spPr>
          <a:xfrm>
            <a:off x="1049149" y="1944411"/>
            <a:ext cx="5266984" cy="2405546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8D72F93A-4356-D4B9-B706-F422863C2413}"/>
              </a:ext>
            </a:extLst>
          </p:cNvPr>
          <p:cNvSpPr/>
          <p:nvPr/>
        </p:nvSpPr>
        <p:spPr>
          <a:xfrm>
            <a:off x="1049149" y="4544896"/>
            <a:ext cx="10737908" cy="2197418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99360A99-0724-5818-A79E-82A878AD4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8552B86D-A995-EDF7-59A3-BEB4F67C88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F0C0851D-FD33-9335-CB95-D188E50A92BB}"/>
              </a:ext>
            </a:extLst>
          </p:cNvPr>
          <p:cNvSpPr/>
          <p:nvPr/>
        </p:nvSpPr>
        <p:spPr>
          <a:xfrm>
            <a:off x="1699975" y="227802"/>
            <a:ext cx="3205399" cy="309954"/>
          </a:xfrm>
          <a:prstGeom prst="roundRect">
            <a:avLst>
              <a:gd name="adj" fmla="val 26287"/>
            </a:avLst>
          </a:prstGeom>
          <a:solidFill>
            <a:srgbClr val="010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Analytics – Evolução e tendências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2C3FA40E-9CB1-71CD-9836-822ACBEBE4EA}"/>
              </a:ext>
            </a:extLst>
          </p:cNvPr>
          <p:cNvSpPr/>
          <p:nvPr/>
        </p:nvSpPr>
        <p:spPr>
          <a:xfrm>
            <a:off x="3008184" y="970568"/>
            <a:ext cx="347291" cy="3740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9E4B0F3A-E227-1D9A-01BB-EF7B2FF0CE2A}"/>
              </a:ext>
            </a:extLst>
          </p:cNvPr>
          <p:cNvSpPr/>
          <p:nvPr/>
        </p:nvSpPr>
        <p:spPr>
          <a:xfrm>
            <a:off x="5762625" y="973108"/>
            <a:ext cx="409575" cy="41066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950CF013-4988-B7C5-7BF7-05A356BAA3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137" y="999786"/>
            <a:ext cx="291413" cy="291413"/>
          </a:xfrm>
          <a:prstGeom prst="rect">
            <a:avLst/>
          </a:prstGeom>
        </p:spPr>
      </p:pic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EFC762EB-372D-47AD-5254-D8EA4DAD2395}"/>
              </a:ext>
            </a:extLst>
          </p:cNvPr>
          <p:cNvSpPr/>
          <p:nvPr/>
        </p:nvSpPr>
        <p:spPr>
          <a:xfrm>
            <a:off x="11418889" y="981926"/>
            <a:ext cx="306401" cy="3464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85AB332-EA23-6336-D1A9-41735C913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AD43D0B8-808C-878C-B969-BEFF564089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2" name="Imagem 1" descr="Ícone&#10;&#10;O conteúdo gerado por IA pode estar incorreto.">
            <a:extLst>
              <a:ext uri="{FF2B5EF4-FFF2-40B4-BE49-F238E27FC236}">
                <a16:creationId xmlns:a16="http://schemas.microsoft.com/office/drawing/2014/main" id="{C63E402E-07E4-255C-3F1A-E943E8E8E8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6A744BAB-5441-2972-7047-17F824A68ECF}"/>
              </a:ext>
            </a:extLst>
          </p:cNvPr>
          <p:cNvSpPr/>
          <p:nvPr/>
        </p:nvSpPr>
        <p:spPr>
          <a:xfrm>
            <a:off x="37037" y="4166760"/>
            <a:ext cx="446056" cy="453228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4AAAE5A-AE9D-A6FF-C723-9C4186761A63}"/>
              </a:ext>
            </a:extLst>
          </p:cNvPr>
          <p:cNvSpPr/>
          <p:nvPr/>
        </p:nvSpPr>
        <p:spPr>
          <a:xfrm>
            <a:off x="6569276" y="956414"/>
            <a:ext cx="2387600" cy="847474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381F28CD-9C02-F84D-0065-AB825DA6ABDA}"/>
              </a:ext>
            </a:extLst>
          </p:cNvPr>
          <p:cNvSpPr/>
          <p:nvPr/>
        </p:nvSpPr>
        <p:spPr>
          <a:xfrm>
            <a:off x="8595360" y="980374"/>
            <a:ext cx="322119" cy="34263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584C077-A436-F2E7-4064-0630C1C30F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887" y="1003957"/>
            <a:ext cx="319050" cy="31905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E70D398A-BB60-2EE5-0230-284976BECE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355" y="1009428"/>
            <a:ext cx="272128" cy="272128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EE47AA3D-06B8-12F8-BC35-86F908E5E7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8889" y="999785"/>
            <a:ext cx="306401" cy="29962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385CBBB1-3410-5B2A-DC4E-2EAC4D29F4E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61" y="4194810"/>
            <a:ext cx="350085" cy="350085"/>
          </a:xfrm>
          <a:prstGeom prst="rect">
            <a:avLst/>
          </a:prstGeom>
        </p:spPr>
      </p:pic>
      <p:pic>
        <p:nvPicPr>
          <p:cNvPr id="28" name="Imagem 27" descr="Logotipo, Ícone&#10;&#10;O conteúdo gerado por IA pode estar incorreto.">
            <a:extLst>
              <a:ext uri="{FF2B5EF4-FFF2-40B4-BE49-F238E27FC236}">
                <a16:creationId xmlns:a16="http://schemas.microsoft.com/office/drawing/2014/main" id="{F186C68F-02D8-4275-BB76-D7433A9961F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505929"/>
            <a:ext cx="351582" cy="351582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7978006-0E6D-F0DD-EE48-22EA0BD19B5F}"/>
              </a:ext>
            </a:extLst>
          </p:cNvPr>
          <p:cNvSpPr/>
          <p:nvPr/>
        </p:nvSpPr>
        <p:spPr>
          <a:xfrm>
            <a:off x="9088315" y="1933872"/>
            <a:ext cx="2698742" cy="239810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24A7A8FD-64AD-A9D6-6A7E-8D550A96EEE1}"/>
              </a:ext>
            </a:extLst>
          </p:cNvPr>
          <p:cNvSpPr/>
          <p:nvPr/>
        </p:nvSpPr>
        <p:spPr>
          <a:xfrm>
            <a:off x="6418103" y="1952516"/>
            <a:ext cx="2568242" cy="239810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10024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3518</TotalTime>
  <Words>47</Words>
  <Application>Microsoft Office PowerPoint</Application>
  <PresentationFormat>Widescreen</PresentationFormat>
  <Paragraphs>13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Aptos SemiBold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Pires</dc:creator>
  <cp:lastModifiedBy>Lucas Pires</cp:lastModifiedBy>
  <cp:revision>34</cp:revision>
  <dcterms:created xsi:type="dcterms:W3CDTF">2026-01-24T16:46:54Z</dcterms:created>
  <dcterms:modified xsi:type="dcterms:W3CDTF">2026-03-28T19:20:38Z</dcterms:modified>
</cp:coreProperties>
</file>